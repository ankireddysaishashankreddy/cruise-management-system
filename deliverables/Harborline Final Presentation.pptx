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4aa3905d2449cf" /><Relationship Type="http://schemas.openxmlformats.org/officeDocument/2006/relationships/extended-properties" Target="/docProps/app.xml" Id="R26e23aec1d334b1d" /><Relationship Type="http://schemas.openxmlformats.org/officeDocument/2006/relationships/officeDocument" Target="/ppt/presentation.xml" Id="Rca90ba00113642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9a3b92af8b41f6"/>
  </p:sldMasterIdLst>
  <p:notesMasterIdLst>
    <p:notesMasterId xmlns:r="http://schemas.openxmlformats.org/officeDocument/2006/relationships" r:id="R4a8f659987454a8e"/>
  </p:notesMasterIdLst>
  <p:sldIdLst>
    <p:sldId xmlns:r="http://schemas.openxmlformats.org/officeDocument/2006/relationships" id="256" r:id="Ra3731d52c91e472f"/>
    <p:sldId xmlns:r="http://schemas.openxmlformats.org/officeDocument/2006/relationships" id="257" r:id="Rfbdbfd6337ff46a6"/>
    <p:sldId xmlns:r="http://schemas.openxmlformats.org/officeDocument/2006/relationships" id="258" r:id="Rac039127d25f4bc2"/>
    <p:sldId xmlns:r="http://schemas.openxmlformats.org/officeDocument/2006/relationships" id="259" r:id="R29e2c3d791e640aa"/>
    <p:sldId xmlns:r="http://schemas.openxmlformats.org/officeDocument/2006/relationships" id="260" r:id="R0ec5e474a2ed4ee0"/>
    <p:sldId xmlns:r="http://schemas.openxmlformats.org/officeDocument/2006/relationships" id="261" r:id="R236f76b8232d43a6"/>
    <p:sldId xmlns:r="http://schemas.openxmlformats.org/officeDocument/2006/relationships" id="262" r:id="R8f3ef21b04f24898"/>
    <p:sldId xmlns:r="http://schemas.openxmlformats.org/officeDocument/2006/relationships" id="263" r:id="Rcb1c6b4747d0450e"/>
    <p:sldId xmlns:r="http://schemas.openxmlformats.org/officeDocument/2006/relationships" id="264" r:id="R680d8f4df5fb41ba"/>
    <p:sldId xmlns:r="http://schemas.openxmlformats.org/officeDocument/2006/relationships" id="265" r:id="R6f611331ec51404f"/>
    <p:sldId xmlns:r="http://schemas.openxmlformats.org/officeDocument/2006/relationships" id="266" r:id="Rb49fbcccec634d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9d6b094cc417b" /><Relationship Type="http://schemas.openxmlformats.org/officeDocument/2006/relationships/slideMaster" Target="/ppt/slideMasters/slideMaster1.xml" Id="R539a3b92af8b41f6" /><Relationship Type="http://schemas.openxmlformats.org/officeDocument/2006/relationships/notesMaster" Target="/ppt/notesMasters/notesMaster1.xml" Id="R4a8f659987454a8e" /><Relationship Type="http://schemas.openxmlformats.org/officeDocument/2006/relationships/presProps" Target="/ppt/presProps.xml" Id="R2b4805e1df6c4faf" /><Relationship Type="http://schemas.openxmlformats.org/officeDocument/2006/relationships/tableStyles" Target="/ppt/tableStyles.xml" Id="R9e8061fc22cd4f79" /><Relationship Type="http://schemas.openxmlformats.org/officeDocument/2006/relationships/slide" Target="/ppt/slides/slide1.xml" Id="Ra3731d52c91e472f" /><Relationship Type="http://schemas.openxmlformats.org/officeDocument/2006/relationships/slide" Target="/ppt/slides/slide2.xml" Id="Rfbdbfd6337ff46a6" /><Relationship Type="http://schemas.openxmlformats.org/officeDocument/2006/relationships/slide" Target="/ppt/slides/slide3.xml" Id="Rac039127d25f4bc2" /><Relationship Type="http://schemas.openxmlformats.org/officeDocument/2006/relationships/slide" Target="/ppt/slides/slide4.xml" Id="R29e2c3d791e640aa" /><Relationship Type="http://schemas.openxmlformats.org/officeDocument/2006/relationships/slide" Target="/ppt/slides/slide5.xml" Id="R0ec5e474a2ed4ee0" /><Relationship Type="http://schemas.openxmlformats.org/officeDocument/2006/relationships/slide" Target="/ppt/slides/slide6.xml" Id="R236f76b8232d43a6" /><Relationship Type="http://schemas.openxmlformats.org/officeDocument/2006/relationships/slide" Target="/ppt/slides/slide7.xml" Id="R8f3ef21b04f24898" /><Relationship Type="http://schemas.openxmlformats.org/officeDocument/2006/relationships/slide" Target="/ppt/slides/slide8.xml" Id="Rcb1c6b4747d0450e" /><Relationship Type="http://schemas.openxmlformats.org/officeDocument/2006/relationships/slide" Target="/ppt/slides/slide9.xml" Id="R680d8f4df5fb41ba" /><Relationship Type="http://schemas.openxmlformats.org/officeDocument/2006/relationships/slide" Target="/ppt/slides/slide10.xml" Id="R6f611331ec51404f" /><Relationship Type="http://schemas.openxmlformats.org/officeDocument/2006/relationships/slide" Target="/ppt/slides/slide11.xml" Id="Rb49fbcccec634d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2ad941702a45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317947ca1749ec" /><Relationship Type="http://schemas.openxmlformats.org/officeDocument/2006/relationships/notesMaster" Target="/ppt/notesMasters/notesMaster1.xml" Id="R65fbd5b279d040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c75659c334abf" /><Relationship Type="http://schemas.openxmlformats.org/officeDocument/2006/relationships/notesMaster" Target="/ppt/notesMasters/notesMaster1.xml" Id="R7247ba70aa2d49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97ccab9658497e" /><Relationship Type="http://schemas.openxmlformats.org/officeDocument/2006/relationships/notesMaster" Target="/ppt/notesMasters/notesMaster1.xml" Id="R96bb833fb8db49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4bc4cb1ef14baa" /><Relationship Type="http://schemas.openxmlformats.org/officeDocument/2006/relationships/notesMaster" Target="/ppt/notesMasters/notesMaster1.xml" Id="R4a7002d63f3a4b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832b239ba84141" /><Relationship Type="http://schemas.openxmlformats.org/officeDocument/2006/relationships/notesMaster" Target="/ppt/notesMasters/notesMaster1.xml" Id="R7f1a7f7203174e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ba74d40d6a472f" /><Relationship Type="http://schemas.openxmlformats.org/officeDocument/2006/relationships/notesMaster" Target="/ppt/notesMasters/notesMaster1.xml" Id="Rc1a8adce5e5344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734bc9889641de" /><Relationship Type="http://schemas.openxmlformats.org/officeDocument/2006/relationships/notesMaster" Target="/ppt/notesMasters/notesMaster1.xml" Id="R908fbaeb078946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7fbec8f90d4cfd" /><Relationship Type="http://schemas.openxmlformats.org/officeDocument/2006/relationships/notesMaster" Target="/ppt/notesMasters/notesMaster1.xml" Id="R1423a1b840e44f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42590bafb04f07" /><Relationship Type="http://schemas.openxmlformats.org/officeDocument/2006/relationships/notesMaster" Target="/ppt/notesMasters/notesMaster1.xml" Id="R8fc6995d016c47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7a463bada34493" /><Relationship Type="http://schemas.openxmlformats.org/officeDocument/2006/relationships/notesMaster" Target="/ppt/notesMasters/notesMaster1.xml" Id="R00479e4635e64a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5161410c034ff7" /><Relationship Type="http://schemas.openxmlformats.org/officeDocument/2006/relationships/notesMaster" Target="/ppt/notesMasters/notesMaster1.xml" Id="R578f27e05ad04e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Harborline as the cruise-management and booking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assets/cruise-images/CREDITS.md (cover photograph: Josiah Weiss, Unsplash; https://unsplash.com/photos/white-and-blue-ship-on-sea-under-blue-sky-and-white-clouds-during-daytime-tthKs4A7XMY; Unsplash License).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scope around the trip lifecycle rather than a feature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docs/ASE-AGILE-REPORT.md; docs/BACKLOG-AND-SPRINTS.md.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project process as an iterative development record, not a completed user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docs/ASE-AGILE-REPORT.md; docs/BACKLOG-AND-SPRINTS.md;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separation of responsibilities and sailing-scoped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server.js; app.js;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local architecture and distinguish the optional Stripe integration from the default demo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server.js; app.js;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booking collision safeguards and the exact ticket-to-seat rule, including split meal batches.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server.js; app.js;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a captain or manager creates actionable work and how eligible crew accept and log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server.js; app.js;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approval gate and the chain from itinerary change to guest response and crew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app.js;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ship-operation modules while making clear that station configuration and safety response require operator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server.js; app.js;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Attribute the count and date to the existing repository test plan. Do not present these checks as new tests run for this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docs/TEST-PLAN.md;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implemented value and the work required before a cruise operator could rely on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docs/ARCHITECTURE.md; docs/BACKLOG-AND-SPRINTS.md; docs/ASE-AGILE-REPORT.md.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7d2fd04644d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def151f1c4f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67fb145bc47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874102a7640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0cc5e344b40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bdab2d024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453A1F-0E21-400A-B438-F90E7F17A6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0F028B-ABAF-486B-A4CE-708DD103F8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583AF3-7AEB-4FC9-985D-3E69903269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0ECD33-885E-45C1-A969-BC3D0E7E94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D8EE25-3E21-44C4-B5E5-303318B8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481C1F-C6BF-416F-A034-24B4853176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F7AE3D-79ED-43FB-85C3-33FADC131C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B761CD-638D-4814-B36E-33FE6A3A74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5EE9FD-04E3-4A94-A4C9-FADE1E11B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922B90-D73D-4EC6-858A-4D92047CCE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f9431eb97b4c70" /><Relationship Type="http://schemas.openxmlformats.org/officeDocument/2006/relationships/slideLayout" Target="/ppt/slideLayouts/slideLayout1.xml" Id="R76e95546feaf40dd" /><Relationship Type="http://schemas.openxmlformats.org/officeDocument/2006/relationships/slideLayout" Target="/ppt/slideLayouts/slideLayout2.xml" Id="Rd4dfd2b7fe1547e3" /><Relationship Type="http://schemas.openxmlformats.org/officeDocument/2006/relationships/slideLayout" Target="/ppt/slideLayouts/slideLayout3.xml" Id="R0bcb416527c8446e" /><Relationship Type="http://schemas.openxmlformats.org/officeDocument/2006/relationships/slideLayout" Target="/ppt/slideLayouts/slideLayout4.xml" Id="R601566e56a2a42c0" /><Relationship Type="http://schemas.openxmlformats.org/officeDocument/2006/relationships/slideLayout" Target="/ppt/slideLayouts/slideLayout5.xml" Id="Rbbfe88272b6543fb" /><Relationship Type="http://schemas.openxmlformats.org/officeDocument/2006/relationships/slideLayout" Target="/ppt/slideLayouts/slideLayout6.xml" Id="R6831fb8ae7384a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e95546feaf40dd"/>
    <p:sldLayoutId xmlns:r="http://schemas.openxmlformats.org/officeDocument/2006/relationships" id="2147483650" r:id="Rd4dfd2b7fe1547e3"/>
    <p:sldLayoutId xmlns:r="http://schemas.openxmlformats.org/officeDocument/2006/relationships" id="2147483651" r:id="R0bcb416527c8446e"/>
    <p:sldLayoutId xmlns:r="http://schemas.openxmlformats.org/officeDocument/2006/relationships" id="2147483652" r:id="R601566e56a2a42c0"/>
    <p:sldLayoutId xmlns:r="http://schemas.openxmlformats.org/officeDocument/2006/relationships" id="2147483653" r:id="Rbbfe88272b6543fb"/>
    <p:sldLayoutId xmlns:r="http://schemas.openxmlformats.org/officeDocument/2006/relationships" id="2147483654" r:id="R6831fb8ae7384a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7ea5088b54a1c" /><Relationship Type="http://schemas.openxmlformats.org/officeDocument/2006/relationships/image" Target="/ppt/media/image.jpeg" Id="R4fb07d86a03749a8" /><Relationship Type="http://schemas.openxmlformats.org/officeDocument/2006/relationships/image" Target="/ppt/media/image.png" Id="Ra19957c180fe4522" /><Relationship Type="http://schemas.openxmlformats.org/officeDocument/2006/relationships/image" Target="/ppt/media/image.svg" Id="R1e7f8a0ca6a44203" /><Relationship Type="http://schemas.openxmlformats.org/officeDocument/2006/relationships/notesSlide" Target="/ppt/notesSlides/notesSlide1.xml" Id="R05143a30f48a47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dee0f5e384501" /><Relationship Type="http://schemas.openxmlformats.org/officeDocument/2006/relationships/notesSlide" Target="/ppt/notesSlides/notesSlide2.xml" Id="R8049052f4334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42db91d344e33" /><Relationship Type="http://schemas.openxmlformats.org/officeDocument/2006/relationships/notesSlide" Target="/ppt/notesSlides/notesSlide3.xml" Id="Rb2d7a81b24f04d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c5b27b8c7463e" /><Relationship Type="http://schemas.openxmlformats.org/officeDocument/2006/relationships/notesSlide" Target="/ppt/notesSlides/notesSlide4.xml" Id="R1ea970b6b71e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0427db1a342f8" /><Relationship Type="http://schemas.openxmlformats.org/officeDocument/2006/relationships/notesSlide" Target="/ppt/notesSlides/notesSlide5.xml" Id="R8caf3211122540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fd4668b644b36" /><Relationship Type="http://schemas.openxmlformats.org/officeDocument/2006/relationships/notesSlide" Target="/ppt/notesSlides/notesSlide6.xml" Id="R0d66544be0be46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b09b8d10d4cb1" /><Relationship Type="http://schemas.openxmlformats.org/officeDocument/2006/relationships/notesSlide" Target="/ppt/notesSlides/notesSlide7.xml" Id="Rb4bda9bb7b4e4b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032fb8b86c4d35" /><Relationship Type="http://schemas.openxmlformats.org/officeDocument/2006/relationships/notesSlide" Target="/ppt/notesSlides/notesSlide8.xml" Id="R798394816bc247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ae3e67be24bf4" /><Relationship Type="http://schemas.openxmlformats.org/officeDocument/2006/relationships/notesSlide" Target="/ppt/notesSlides/notesSlide9.xml" Id="R1a00d878634445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6a6a03856491e" /><Relationship Type="http://schemas.openxmlformats.org/officeDocument/2006/relationships/notesSlide" Target="/ppt/notesSlides/notesSlide10.xml" Id="R02c9f021b02940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9cbcf141d443a" /><Relationship Type="http://schemas.openxmlformats.org/officeDocument/2006/relationships/notesSlide" Target="/ppt/notesSlides/notesSlide11.xml" Id="Re3a373e853d346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D95D7-CB9D-43B6-8F3D-09545CDE8C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07d86a03749a8"/>
          <a:srcRect xmlns:a="http://schemas.openxmlformats.org/drawingml/2006/main" l="0" t="7826" r="0" b="7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-panel">
            <a:extLst xmlns:a="http://schemas.openxmlformats.org/drawingml/2006/main">
              <a:ext uri="{FF2B5EF4-FFF2-40B4-BE49-F238E27FC236}">
                <a16:creationId xmlns:a16="http://schemas.microsoft.com/office/drawing/2014/main" id="{341345BA-3249-4E35-A178-E6827A78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42809-2B41-426C-B843-5984FAF044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957c180fe4522">
            <a:extLst>
              <a:ext uri="{96DAC541-7B7A-43D3-8B79-37D633B846F1}">
                <asvg:svgBlip xmlns:asvg="http://schemas.microsoft.com/office/drawing/2016/SVG/main" r:embed="R1e7f8a0ca6a442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7048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brand">
            <a:extLst xmlns:a="http://schemas.openxmlformats.org/drawingml/2006/main">
              <a:ext uri="{FF2B5EF4-FFF2-40B4-BE49-F238E27FC236}">
                <a16:creationId xmlns:a16="http://schemas.microsoft.com/office/drawing/2014/main" id="{596EC9B4-F23C-4C59-A30E-14B7F831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62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C5DF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C5DF7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5DF75"/>
                </a:solidFill>
                <a:latin typeface="Arial"/>
                <a:ea typeface="Arial"/>
                <a:cs typeface="Arial"/>
              </a:rPr>
              <a:t>HARBORLINE</a:t>
            </a:r>
          </a:p>
        </p:txBody>
      </p:sp>
      <p:sp>
        <p:nvSpPr>
          <p:cNvPr id="5" name="presentation-title">
            <a:extLst xmlns:a="http://schemas.openxmlformats.org/drawingml/2006/main">
              <a:ext uri="{FF2B5EF4-FFF2-40B4-BE49-F238E27FC236}">
                <a16:creationId xmlns:a16="http://schemas.microsoft.com/office/drawing/2014/main" id="{1589808B-79DB-4F7A-8E0F-0B15836D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6672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5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Cruise Management,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Booking &amp; Smart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Operations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D2D98-186B-42BD-9A56-D6E9ED60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27E9B-1CB5-4D63-B06D-D8C7D542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PBL Final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D2750-D9C1-4DEB-A8D4-DF6E0A9A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E3EC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E3ECE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E3ECE7"/>
                </a:solidFill>
                <a:latin typeface="Arial"/>
                <a:ea typeface="Arial"/>
                <a:cs typeface="Arial"/>
              </a:rPr>
              <a:t>A role-based prototype for guests, crew, captains and managers</a:t>
            </a:r>
          </a:p>
        </p:txBody>
      </p:sp>
    </p:spTree>
    <p:extLst>
      <p:ext uri="{BB962C8B-B14F-4D97-AF65-F5344CB8AC3E}">
        <p14:creationId xmlns:p14="http://schemas.microsoft.com/office/powerpoint/2010/main" val="558586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C83CE0-FC34-4287-9B8E-2315484F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Cruise operations span three moments</a:t>
            </a:r>
          </a:p>
        </p:txBody>
      </p:sp>
      <p:sp>
        <p:nvSpPr>
          <p:cNvPr id="2" name="slide-context">
            <a:extLst xmlns:a="http://schemas.openxmlformats.org/drawingml/2006/main">
              <a:ext uri="{FF2B5EF4-FFF2-40B4-BE49-F238E27FC236}">
                <a16:creationId xmlns:a16="http://schemas.microsoft.com/office/drawing/2014/main" id="{3FCCDDC0-0A72-4F49-A389-C1EBEC3F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Harborline links passenger plans with work managed onboard.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F72B1-F585-4B41-8F47-4AC23627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BEFORE SAILING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7AFCC-E4FF-437C-B4AB-C29C059F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A2E8D-F46B-417E-A636-9A62C539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Plan the trip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7D72A-1676-4FCC-B9D0-1D8CFCF4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Find a sailing, reserve a cabin and assign dining seats to each ticketed guest.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931EC-AC76-4A42-A093-FCDDC22B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ON 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5B67E-0B4C-4C7E-A1AD-02F9B86F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860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8C1F5-7970-47AD-8EED-D379088B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Run the 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12AA4-568F-44FC-9FFB-340AF067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Handle crew shifts, guest service, boarding, maintenance and muster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ADFF8-E38F-4231-A80D-5699A928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WHEN PLANS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A7B01-D83D-46AB-9F11-9E55CCEE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860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BDEF5-FDAB-4B96-9745-96E808B9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Coordinate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626EC-2FBD-448D-8A59-A0B2FF5C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Review port impacts, notify affected passengers and dispatch follow-up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A634D-BA2B-4D5E-A09D-CDA51764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575D7-1ACB-4194-914E-EB4450F2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F70DA-6D01-4371-979C-FEA471C5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One sailing record connects guest, crew and operations workflows.</a:t>
            </a:r>
          </a:p>
        </p:txBody>
      </p:sp>
    </p:spTree>
    <p:extLst>
      <p:ext uri="{BB962C8B-B14F-4D97-AF65-F5344CB8AC3E}">
        <p14:creationId xmlns:p14="http://schemas.microsoft.com/office/powerpoint/2010/main" val="618407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E0223A-5224-4864-B2BD-37641CB8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Adaptive Software Engineering approach</a:t>
            </a:r>
          </a:p>
        </p:txBody>
      </p:sp>
      <p:sp>
        <p:nvSpPr>
          <p:cNvPr id="2" name="slide-context">
            <a:extLst xmlns:a="http://schemas.openxmlformats.org/drawingml/2006/main">
              <a:ext uri="{FF2B5EF4-FFF2-40B4-BE49-F238E27FC236}">
                <a16:creationId xmlns:a16="http://schemas.microsoft.com/office/drawing/2014/main" id="{03AC1B42-1475-450F-81C3-F03B791C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Short build-and-review cycles incorporated changing project requirements.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5BEA1-2DD8-486C-B8AA-2C2A5AC4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F3725-71EA-40F0-82BB-5EF927C1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C7F3F-4B2A-48B1-898B-E7965687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6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752E8-90A6-4373-B46E-99B1CAF7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Speculation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7C78E-C679-40A8-8395-16CD3C36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2343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Set a working vision and record uncertainty about inventory, safety, payments and external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01B99-EC56-438A-8D15-E44C58F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5C85D-93E1-44FA-BAB8-F09CBD32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6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3396A-1B30-477C-B3BB-BFBAD574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575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9D45D-1739-4DD3-A758-73A35496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2343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Translate passenger, crew, captain and manager needs into role-specific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66D62-ED96-4BFD-AA57-C5BFAF75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A12E8-C97C-4D38-92D5-5A67D4EC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6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1E119-C188-4D82-89B0-7D1C44FE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F8135-5D00-4D43-9036-136F2A54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2343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Implement against the server and review behavior, tests and operational edge cases.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4D393-D8AF-4885-B6C9-1250F192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9CD39-C00B-4FA7-B0B7-5C1F647E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47925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6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006D3-265B-45AC-858A-22B62290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Adaptation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47504-59F6-4700-BD36-206AD545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343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Add guest-level dining, scoped permissions, captain-issued faults and port recovery.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556A39-AFE4-4837-8485-5288EAF8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1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75" b="0" i="1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C7378"/>
                </a:solidFill>
                <a:latin typeface="Arial"/>
                <a:ea typeface="Arial"/>
                <a:cs typeface="Arial"/>
              </a:rPr>
              <a:t>Illustrative development approach documented in the project materials; no formal user study is recorded.</a:t>
            </a:r>
          </a:p>
        </p:txBody>
      </p:sp>
    </p:spTree>
    <p:extLst>
      <p:ext uri="{BB962C8B-B14F-4D97-AF65-F5344CB8AC3E}">
        <p14:creationId xmlns:p14="http://schemas.microsoft.com/office/powerpoint/2010/main" val="1848729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20AEEC-524F-499C-8626-4DC8480F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Role boundaries shape the work</a:t>
            </a:r>
          </a:p>
        </p:txBody>
      </p:sp>
      <p:sp>
        <p:nvSpPr>
          <p:cNvPr id="2" name="slide-context">
            <a:extLst xmlns:a="http://schemas.openxmlformats.org/drawingml/2006/main">
              <a:ext uri="{FF2B5EF4-FFF2-40B4-BE49-F238E27FC236}">
                <a16:creationId xmlns:a16="http://schemas.microsoft.com/office/drawing/2014/main" id="{FF365D37-1471-4964-8B27-7852AFAC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Access is checked in the application and again by the server.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77FBE-2A3A-4C3A-9B89-015AE760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3851E-2361-465E-BDE3-3B1CCA1A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Passenger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41A6A-5F52-4EBC-91D5-A1132ADB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2479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Manage a booking, guest dining seats, itinerary notices and service cases.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B6796-7A6E-400D-9DBF-D5E4A929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EE893-A4ED-4024-AC60-8990F8D4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Crew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4FE2D-06BE-4048-B5DB-F346BE4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86100"/>
            <a:ext cx="22479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View permitted shifts, accept eligible jobs and record progress or resolution.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7D796-2DDB-4B3A-829C-D0EDC2B3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95B97-2CD5-4D5D-99DE-B7BFF205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Captain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C5528-3042-44DC-8C06-35C53DED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22479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Create faults, review port recovery and lead operational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22029-5136-4F25-9B6D-B96AD9A7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5265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47011-BE14-437D-B95B-DDD16ACB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F830F-1F70-4856-AAD2-A73C295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22479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Configure sailings, inventory and sailing-scoped staff permissions.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336FD-8820-4409-AB5F-6D115833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42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Staff permissions can be limited by action and by sailing; consequential changes are attributed in activity history.</a:t>
            </a:r>
          </a:p>
        </p:txBody>
      </p:sp>
    </p:spTree>
    <p:extLst>
      <p:ext uri="{BB962C8B-B14F-4D97-AF65-F5344CB8AC3E}">
        <p14:creationId xmlns:p14="http://schemas.microsoft.com/office/powerpoint/2010/main" val="2062684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78102A-BE65-40EB-B09C-8438D786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slide-context">
            <a:extLst xmlns:a="http://schemas.openxmlformats.org/drawingml/2006/main">
              <a:ext uri="{FF2B5EF4-FFF2-40B4-BE49-F238E27FC236}">
                <a16:creationId xmlns:a16="http://schemas.microsoft.com/office/drawing/2014/main" id="{5815238F-CBB6-4D64-BB50-CD8330F1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A browser client calls a same-origin Node.js API backed by SQLite.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63DA2-C04E-40B0-A178-0ADBA109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4C255-F39B-4DF8-873F-ED3135C4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EDE1F-A04A-444E-864C-3EA311C3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70"/>
          </a:bodyPr>
          <a:lstStyle xmlns:a="http://schemas.openxmlformats.org/drawingml/2006/main">
            <a:defPPr algn="l">
              <a:defRPr sz="18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Guest &amp; staff workspaces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C9028-3585-400A-9307-52FA3A60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438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HTML, CSS and JavaScript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Role-specific screens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C5CBC-53E4-4197-9FA8-ED543220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680A3-B90D-4B40-B6D1-7798D9D6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751C0-EA11-4D1D-BF1C-E4535EE5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Node.js HTTP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8B576-C918-4097-A48A-B4E7755E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2438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42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Authentication and role checks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Booking and operations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4A856-8D0D-46E9-8F3C-B74BBD52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475DA-FE4B-4DEF-BF48-278BFBB7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5ABBA-DCD8-4B34-9C91-EFC031E9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SQLite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08FA5-DB95-467F-8307-AC760C41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2438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60"/>
          </a:bodyPr>
          <a:lstStyle xmlns:a="http://schemas.openxmlformats.org/drawingml/2006/main">
            <a:defPPr algn="l">
              <a:defRPr sz="142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Sailings, bookings, tasks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Activity and operational history</a:t>
            </a:r>
          </a:p>
        </p:txBody>
      </p:sp>
      <p:sp>
        <p:nvSpPr>
          <p:cNvPr id="15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ED5F1614-5E21-4C9D-BDC4-262FA79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57525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4C7E4A06-AE56-49E5-B1E7-AE39A472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57525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BAD34-469D-4835-A381-CF1B8D19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24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Server-side authorization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C1EE0-FEC1-423D-BF9C-E1CBCF60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60D63-7F92-4766-93B7-B8C06672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Optional payment adapter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AC2B9-9101-49CC-9400-7CFCECF2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244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Stripe Checkout is used only when server keys and a signed webhook secret are configured. Default demo mode takes no payment.</a:t>
            </a:r>
          </a:p>
        </p:txBody>
      </p:sp>
    </p:spTree>
    <p:extLst>
      <p:ext uri="{BB962C8B-B14F-4D97-AF65-F5344CB8AC3E}">
        <p14:creationId xmlns:p14="http://schemas.microsoft.com/office/powerpoint/2010/main" val="162994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CE9917-500C-435B-87DC-510B9A6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Booking and dining are checked per guest</a:t>
            </a:r>
          </a:p>
        </p:txBody>
      </p:sp>
      <p:sp>
        <p:nvSpPr>
          <p:cNvPr id="2" name="slide-context">
            <a:extLst xmlns:a="http://schemas.openxmlformats.org/drawingml/2006/main">
              <a:ext uri="{FF2B5EF4-FFF2-40B4-BE49-F238E27FC236}">
                <a16:creationId xmlns:a16="http://schemas.microsoft.com/office/drawing/2014/main" id="{B0736206-11AC-4368-8B2B-E05FC959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Cabin reservations and dining seat assignments persist on the server.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CFD72-DFEC-4CEE-A4C8-4C9E789B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35758-8E27-4963-B8A9-1A7A49AD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CABIN BOOKING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D7E07-12B0-455E-887E-91C07942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Reserve an available cabin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B376D-5D90-4653-AC04-86E83F27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Availability is checked on the server. Collision protection prevents two requests from claiming the same cabin.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378CD-544F-4BCC-B01A-324436B3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1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 i="1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5C7378"/>
                </a:solidFill>
                <a:latin typeface="Arial"/>
                <a:ea typeface="Arial"/>
                <a:cs typeface="Arial"/>
              </a:rPr>
              <a:t>Idempotency keys make repeated reservation requests safe to process.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64A6D-222C-4A9C-BF5C-41FF974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DINING SEATS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550AD-F528-4147-AF34-93C064B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One ticketed guest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= one seat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09998-B25D-41E4-84E4-EED99E96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533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Guests may choose seats in different meal batches. The server checks guest count, seat availability, blocked seats and batch capacity.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A946F-92C6-439A-B55F-F49CB341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93005-9982-4332-B97C-ADA97C5E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173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60C9E-702B-4AEB-8067-0C1CA3FF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A74B7-BB69-44F9-96B2-C2D74E2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29200"/>
            <a:ext cx="1352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FILLED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54D87-73C1-4F5B-8099-BCC55C96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339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A652B-E62E-4329-B4D2-13CBA3F6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29200"/>
            <a:ext cx="1352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B852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B852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85248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33119-6E2F-4844-9BF1-E2BE5FDD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The guest count is the seat count: no extra or missing dining assignments.</a:t>
            </a:r>
          </a:p>
        </p:txBody>
      </p:sp>
    </p:spTree>
    <p:extLst>
      <p:ext uri="{BB962C8B-B14F-4D97-AF65-F5344CB8AC3E}">
        <p14:creationId xmlns:p14="http://schemas.microsoft.com/office/powerpoint/2010/main" val="103046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AF31FB-9478-4A6E-8DCC-69248291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Captain-created faults become crew work</a:t>
            </a:r>
          </a:p>
        </p:txBody>
      </p:sp>
      <p:sp>
        <p:nvSpPr>
          <p:cNvPr id="2" name="slide-context">
            <a:extLst xmlns:a="http://schemas.openxmlformats.org/drawingml/2006/main">
              <a:ext uri="{FF2B5EF4-FFF2-40B4-BE49-F238E27FC236}">
                <a16:creationId xmlns:a16="http://schemas.microsoft.com/office/drawing/2014/main" id="{E225BAC4-573E-44C6-8775-BB619FEF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The fault record carries the location and responsibility needed to 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3CC74-B681-4007-AD72-FB6CB5C5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CAPTAIN REPORTS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EC767-9F85-4720-BED3-D808D2B7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8575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Sailing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Deck or location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Department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2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Priority and details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EF4AC-04A2-46AB-8651-D73EA1E4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57425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9B13A-1587-4740-B918-F49E0777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FDF16-46A4-4971-8F05-50571B9E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458CF-4B03-4238-932E-0F4153D3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0425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Eligible crew member claims the job.</a:t>
            </a:r>
          </a:p>
        </p:txBody>
      </p:sp>
      <p:sp>
        <p:nvSpPr>
          <p:cNvPr id="9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D3A8E034-F374-43A4-BB73-01FEEF79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0512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750FB-DC80-4990-BFD5-482A9C70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90E42-D39B-4E88-9CC5-95440C0E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7B3E5-657B-4C3A-AB3D-F1C7438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0425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Crew member records progress.</a:t>
            </a:r>
          </a:p>
        </p:txBody>
      </p:sp>
      <p:sp>
        <p:nvSpPr>
          <p:cNvPr id="13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C9897509-1692-4EC0-B9BB-4F3AF148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05125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C811B-41DB-4129-9118-EF7BBF68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7CA71-3D09-476E-8558-002CAC74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C5A4D-8848-4DDF-908E-C721DD97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0425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Close with a resolution note.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DBC43-15CF-47D7-A118-F54C024A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F340A-E722-4A7D-AA8B-9738C09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Reporter, acceptance, progress and closure are retained in the task history.</a:t>
            </a:r>
          </a:p>
        </p:txBody>
      </p:sp>
    </p:spTree>
    <p:extLst>
      <p:ext uri="{BB962C8B-B14F-4D97-AF65-F5344CB8AC3E}">
        <p14:creationId xmlns:p14="http://schemas.microsoft.com/office/powerpoint/2010/main" val="7436859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0797F4-C5E0-4168-9913-D4C5B7D0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Port changes use a captain-reviewed recovery</a:t>
            </a:r>
          </a:p>
        </p:txBody>
      </p:sp>
      <p:sp>
        <p:nvSpPr>
          <p:cNvPr id="2" name="slide-context">
            <a:extLst xmlns:a="http://schemas.openxmlformats.org/drawingml/2006/main">
              <a:ext uri="{FF2B5EF4-FFF2-40B4-BE49-F238E27FC236}">
                <a16:creationId xmlns:a16="http://schemas.microsoft.com/office/drawing/2014/main" id="{E3BAB572-6116-4CC3-AAF3-5D959854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Passenger notices and crew follow-ups begin only after an authorized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A7C6B-D18F-46B3-8227-86A744EA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9526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DCB27-581C-4C9F-9CEE-2BCBE68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F1975-A2FE-4D2B-995F-28669CF9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Port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B4A62-5157-4F6D-BCCE-6E83FBF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609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Delay or cancellation</a:t>
            </a:r>
          </a:p>
        </p:txBody>
      </p:sp>
      <p:sp>
        <p:nvSpPr>
          <p:cNvPr id="7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5C7F343F-95A8-453C-8DF2-ACE2BB5D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52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BB4BA-DD3B-42AA-9490-A1EFF8D8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23336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B1E4F-460A-408E-9C9F-DFED29AE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07B96-8975-48D7-BB71-854C9EC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Impact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BE99C-1CBD-4CE8-AA08-E557B422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Affected bookings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Linked shore plans</a:t>
            </a:r>
          </a:p>
        </p:txBody>
      </p:sp>
      <p:sp>
        <p:nvSpPr>
          <p:cNvPr id="12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3FE87D5C-C898-4555-ACB2-74CF5998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52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D114A-7F35-457C-85D1-87C6668B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9850"/>
            <a:ext cx="21907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D7"/>
          </a:solidFill>
          <a:ln xmlns:a="http://schemas.openxmlformats.org/drawingml/2006/main" w="19050">
            <a:solidFill>
              <a:srgbClr val="D3DB9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3EEFE-A68C-43ED-B17E-27CE56EC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10F1D-D28B-44CF-94B1-0067BBE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62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DBC51-E1F6-4C3B-9BC2-D0D0F38B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3855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Captain or manager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reviews the plan</a:t>
            </a:r>
          </a:p>
        </p:txBody>
      </p:sp>
      <p:sp>
        <p:nvSpPr>
          <p:cNvPr id="17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D2AF2E0D-D4BB-4AA5-BAFE-E746D34B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49169-F158-46C9-A5F4-66CEF308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09850"/>
            <a:ext cx="32861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3D0FB-3EA6-42B3-A652-EC0106AE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81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3CCFB-9A8D-443A-8B87-BB7819B2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62300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Follow 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34304-2966-4AAC-9B34-EDF39898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38550"/>
            <a:ext cx="2943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Passenger notices and choices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Claimable crew tasks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5EA76-A6E1-4142-B716-C1F7BB2B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Responses, decisions and task progress remain linked to the sailing and affected booking parties.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56DB4-F2A2-46A6-B187-80CF7798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1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 i="1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C7378"/>
                </a:solidFill>
                <a:latin typeface="Arial"/>
                <a:ea typeface="Arial"/>
                <a:cs typeface="Arial"/>
              </a:rPr>
              <a:t>The system records in-app responses; it does not send email or SMS.</a:t>
            </a:r>
          </a:p>
        </p:txBody>
      </p:sp>
    </p:spTree>
    <p:extLst>
      <p:ext uri="{BB962C8B-B14F-4D97-AF65-F5344CB8AC3E}">
        <p14:creationId xmlns:p14="http://schemas.microsoft.com/office/powerpoint/2010/main" val="48805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3D0A1F-2C35-44D9-8FE1-0F5AD819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Ship readiness extends beyond reservations</a:t>
            </a:r>
          </a:p>
        </p:txBody>
      </p:sp>
      <p:sp>
        <p:nvSpPr>
          <p:cNvPr id="2" name="slide-context">
            <a:extLst xmlns:a="http://schemas.openxmlformats.org/drawingml/2006/main">
              <a:ext uri="{FF2B5EF4-FFF2-40B4-BE49-F238E27FC236}">
                <a16:creationId xmlns:a16="http://schemas.microsoft.com/office/drawing/2014/main" id="{D906E0F2-5349-41DB-9246-8B384624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Boarding, safety and maintenance actions are attached to operational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5AA0F-64D9-4A79-9897-9B70BB5F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BOARDING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09B8C-EBEE-4928-8064-86BC6AB7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D5BED-6859-4B31-A765-54297CBD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Manifest &amp; check-in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3728E-4C2D-4A47-885B-837A56C7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3086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One-time ticket check-in against the sailing manifest. Camera scan depends on browser support; manual and keyboard-scanner entry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466CB-74A4-46CC-AC45-65250F6B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281FF-F691-4756-BC70-EE0FE7AF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812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0D634-760A-4555-AC6F-EFF60633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Muster &amp; drills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ADD5A-E560-41A3-AF69-F20A5EA2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33800"/>
            <a:ext cx="3086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Authorized staff can open a drill or event and record guest accountability at configured muster stations.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CC624-EDA9-4F09-ADCE-5A093C8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49D52-3309-4381-9657-3E926B62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1540A-B342-41AA-B8B9-387CF079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Equipment &amp; due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92C03-8F1C-48F9-9635-B3BB2C06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86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Keep an equipment register, recurring service plans, completion notes and next due dates.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44AEE-5796-411C-B91C-CEE71B27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190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AEDA3-F764-4FEF-B51F-BB95F2DA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14625"/>
            <a:ext cx="190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48F0F-D97F-4227-A070-5CBD6C3E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65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Actions are attributed to staff and recorded in local activity history.</a:t>
            </a:r>
          </a:p>
        </p:txBody>
      </p:sp>
    </p:spTree>
    <p:extLst>
      <p:ext uri="{BB962C8B-B14F-4D97-AF65-F5344CB8AC3E}">
        <p14:creationId xmlns:p14="http://schemas.microsoft.com/office/powerpoint/2010/main" val="11866869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36D245-FA54-4AED-B146-A6B0C4F9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Recorded verification covers the core workflows</a:t>
            </a:r>
          </a:p>
        </p:txBody>
      </p:sp>
      <p:sp>
        <p:nvSpPr>
          <p:cNvPr id="2" name="slide-context">
            <a:extLst xmlns:a="http://schemas.openxmlformats.org/drawingml/2006/main">
              <a:ext uri="{FF2B5EF4-FFF2-40B4-BE49-F238E27FC236}">
                <a16:creationId xmlns:a16="http://schemas.microsoft.com/office/drawing/2014/main" id="{1EB82024-71DB-44C9-9A21-E329C762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75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The repository test plan records a run dated 6 October 2026.</a:t>
            </a:r>
          </a:p>
        </p:txBody>
      </p:sp>
      <p:sp>
        <p:nvSpPr>
          <p:cNvPr id="3" name="recorded-test-count">
            <a:extLst xmlns:a="http://schemas.openxmlformats.org/drawingml/2006/main">
              <a:ext uri="{FF2B5EF4-FFF2-40B4-BE49-F238E27FC236}">
                <a16:creationId xmlns:a16="http://schemas.microsoft.com/office/drawing/2014/main" id="{9EED9C37-7267-4E48-AB7B-4A6D096C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3048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6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9600" b="1" i="0">
                <a:solidFill>
                  <a:srgbClr val="0E7B78"/>
                </a:solidFill>
                <a:latin typeface="Arial"/>
                <a:ea typeface="Arial"/>
                <a:cs typeface="Arial"/>
              </a:defRPr>
            </a:pPr>
            <a:r>
              <a:rPr sz="9600" b="1" i="0">
                <a:solidFill>
                  <a:srgbClr val="0E7B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065DB-3FA3-45A2-A881-16092CD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44323-3571-45DE-811C-F6A5E7E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7378"/>
                </a:solidFill>
                <a:latin typeface="Arial"/>
                <a:ea typeface="Arial"/>
                <a:cs typeface="Arial"/>
              </a:rPr>
              <a:t>7 domain tests  +  6 HTTP integration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52393-4030-496E-8DDE-D6AF884A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383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35900-1851-4C80-826C-2605A2A0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Documented checks include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4FE04-1341-4601-827E-3AF40C46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5429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Authentication and role authorization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Reservation collisions and idempotency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SQLite-backed workflows and feedback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Crew operations and registration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5F40F-A36D-47F7-A67B-C9E4BD7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81575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36F3A-18D4-4EF5-8E31-146AA657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1">
                <a:solidFill>
                  <a:srgbClr val="5C73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 i="1">
                <a:solidFill>
                  <a:srgbClr val="5C7378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C7378"/>
                </a:solidFill>
                <a:latin typeface="Arial"/>
                <a:ea typeface="Arial"/>
                <a:cs typeface="Arial"/>
              </a:rPr>
              <a:t>No external passenger or crew study, load benchmark, live payment test or independent security review is recorded.</a:t>
            </a:r>
          </a:p>
        </p:txBody>
      </p:sp>
    </p:spTree>
    <p:extLst>
      <p:ext uri="{BB962C8B-B14F-4D97-AF65-F5344CB8AC3E}">
        <p14:creationId xmlns:p14="http://schemas.microsoft.com/office/powerpoint/2010/main" val="1666574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3AAC64-CFB5-4B86-9AD4-5A3769B8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1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A connected local MVP, with a clear next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EAE2E-C316-425B-BC52-36BDEACB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43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Harborline connects passenger booking to shipboard work through role-checked APIs, persistent records and action history.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CBBCE-C9D9-48AD-BEDA-A56B3586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1586D-782D-43FC-A17F-E14A1FEE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4A433-44BE-4077-8746-E3295BBF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8575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Test priorities and task flows with representative passengers, crew, captains and managers.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A9F52-139F-4C00-9492-E603F275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EEAB5-A798-4D05-8B74-BF147223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91973-25D9-4773-A640-56A0CE2D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28575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Integrate authoritative sailing, identity, manifest, payment and notification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17813-19EC-4820-9317-DA0C52B7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751B4-D7AA-498B-A901-0A0ED7B5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102D3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2D37"/>
                </a:solidFill>
                <a:latin typeface="Arial"/>
                <a:ea typeface="Arial"/>
                <a:cs typeface="Arial"/>
              </a:rPr>
              <a:t>Harden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8D0A9-EFEB-4497-950B-9612606B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28575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19353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9353C"/>
                </a:solidFill>
                <a:latin typeface="Arial"/>
                <a:ea typeface="Arial"/>
                <a:cs typeface="Arial"/>
              </a:rPr>
              <a:t>Set backups and audit retention; review accessibility, security and vessel safety procedures.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CB65B-855D-424F-B6BC-76BCFAF7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FFCDE-4DB1-4D35-9828-A16B3E9E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81650"/>
            <a:ext cx="1023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819"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 boundary: seeded sailings, local infrastructure, no default payment; operational safety needs vessel-operator validation.</a:t>
            </a:r>
          </a:p>
        </p:txBody>
      </p:sp>
    </p:spTree>
    <p:extLst>
      <p:ext uri="{BB962C8B-B14F-4D97-AF65-F5344CB8AC3E}">
        <p14:creationId xmlns:p14="http://schemas.microsoft.com/office/powerpoint/2010/main" val="491978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2026-10-10T04:34:10.3650000Z</dcterms:created>
  <dcterms:modified xsi:type="dcterms:W3CDTF">2026-10-10T04:34:10.3650000Z</dcterms:modified>
</coreProperties>
</file>